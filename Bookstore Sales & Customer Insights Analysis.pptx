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sldIdLst>
    <p:sldId id="256" r:id="rId2"/>
    <p:sldId id="266" r:id="rId3"/>
    <p:sldId id="268" r:id="rId4"/>
    <p:sldId id="270" r:id="rId5"/>
    <p:sldId id="271" r:id="rId6"/>
    <p:sldId id="272" r:id="rId7"/>
    <p:sldId id="273" r:id="rId8"/>
    <p:sldId id="274" r:id="rId9"/>
    <p:sldId id="275" r:id="rId10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58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33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900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297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00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10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83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180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4924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79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0575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674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0438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92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77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4873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488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367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hyperlink" Target="https://www.linkedin.com/in/harini7s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15425" cy="6858000"/>
            <a:chOff x="0" y="0"/>
            <a:chExt cx="911542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15425" cy="6857999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95600"/>
              <a:ext cx="2362200" cy="2362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6025" y="1676400"/>
              <a:ext cx="2819400" cy="28194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86425" y="0"/>
              <a:ext cx="1600200" cy="16002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96025" y="5867400"/>
              <a:ext cx="990600" cy="9906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2667000"/>
              <a:ext cx="4191000" cy="41910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grpSp>
        <p:nvGrpSpPr>
          <p:cNvPr id="9" name="object 9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10" name="object 10"/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9144000" y="0"/>
                  </a:moveTo>
                  <a:lnTo>
                    <a:pt x="8642350" y="0"/>
                  </a:lnTo>
                  <a:lnTo>
                    <a:pt x="8642350" y="514350"/>
                  </a:lnTo>
                  <a:lnTo>
                    <a:pt x="8642350" y="6356350"/>
                  </a:lnTo>
                  <a:lnTo>
                    <a:pt x="514350" y="6356350"/>
                  </a:lnTo>
                  <a:lnTo>
                    <a:pt x="514350" y="514350"/>
                  </a:lnTo>
                  <a:lnTo>
                    <a:pt x="8642350" y="514350"/>
                  </a:lnTo>
                  <a:lnTo>
                    <a:pt x="8642350" y="0"/>
                  </a:lnTo>
                  <a:lnTo>
                    <a:pt x="0" y="0"/>
                  </a:lnTo>
                  <a:lnTo>
                    <a:pt x="0" y="514350"/>
                  </a:lnTo>
                  <a:lnTo>
                    <a:pt x="0" y="6356350"/>
                  </a:lnTo>
                  <a:lnTo>
                    <a:pt x="0" y="6858000"/>
                  </a:lnTo>
                  <a:lnTo>
                    <a:pt x="9144000" y="6858000"/>
                  </a:lnTo>
                  <a:lnTo>
                    <a:pt x="9144000" y="6356350"/>
                  </a:lnTo>
                  <a:lnTo>
                    <a:pt x="9144000" y="51435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96200" y="0"/>
              <a:ext cx="776287" cy="116674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743825" y="0"/>
              <a:ext cx="685800" cy="1095375"/>
            </a:xfrm>
            <a:custGeom>
              <a:avLst/>
              <a:gdLst/>
              <a:ahLst/>
              <a:cxnLst/>
              <a:rect l="l" t="t" r="r" b="b"/>
              <a:pathLst>
                <a:path w="685800" h="1095375">
                  <a:moveTo>
                    <a:pt x="685800" y="0"/>
                  </a:moveTo>
                  <a:lnTo>
                    <a:pt x="0" y="0"/>
                  </a:lnTo>
                  <a:lnTo>
                    <a:pt x="0" y="1095375"/>
                  </a:lnTo>
                  <a:lnTo>
                    <a:pt x="685800" y="109537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B31166"/>
            </a:solidFill>
          </p:spPr>
          <p:txBody>
            <a:bodyPr wrap="square" lIns="0" tIns="0" rIns="0" bIns="0" rtlCol="0"/>
            <a:lstStyle/>
            <a:p>
              <a:endPara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050" y="3867086"/>
              <a:ext cx="557212" cy="45243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693102" y="1717674"/>
            <a:ext cx="7635240" cy="16719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900"/>
              </a:lnSpc>
              <a:spcBef>
                <a:spcPts val="110"/>
              </a:spcBef>
            </a:pPr>
            <a:r>
              <a:rPr sz="3600" spc="1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Analysing</a:t>
            </a:r>
            <a:r>
              <a:rPr sz="3600" spc="-9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1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Bookstore</a:t>
            </a:r>
            <a:r>
              <a:rPr sz="3600" spc="-1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Trends: </a:t>
            </a:r>
            <a:r>
              <a:rPr sz="3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Buyers,</a:t>
            </a:r>
            <a:r>
              <a:rPr sz="3600" spc="-13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Behavior,</a:t>
            </a:r>
            <a:r>
              <a:rPr sz="3600" spc="-1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4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sz="3600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2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Beyond</a:t>
            </a:r>
            <a:r>
              <a:rPr sz="3600" spc="-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sz="3600" spc="4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Advanced</a:t>
            </a:r>
            <a:r>
              <a:rPr sz="3600" spc="-3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3600" spc="1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endParaRPr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6982" y="3916616"/>
            <a:ext cx="2346325" cy="2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10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r>
              <a:rPr sz="1700" spc="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INSIGHTS</a:t>
            </a:r>
            <a:r>
              <a:rPr sz="1700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00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endParaRPr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514725" y="3867086"/>
            <a:ext cx="538162" cy="45243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3980815" y="3916616"/>
            <a:ext cx="2210435" cy="2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</a:t>
            </a:r>
            <a:r>
              <a:rPr sz="1700" spc="-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PATTERNS</a:t>
            </a:r>
            <a:r>
              <a:rPr sz="1700" spc="-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700" spc="21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|</a:t>
            </a:r>
            <a:endParaRPr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96000" y="3867086"/>
            <a:ext cx="566737" cy="452437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585204" y="3916616"/>
            <a:ext cx="1452245" cy="2776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spc="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r>
              <a:rPr sz="1700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TRENDS</a:t>
            </a:r>
            <a:endParaRPr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8B710C-C1B2-1C0B-177D-D055275FF95E}"/>
              </a:ext>
            </a:extLst>
          </p:cNvPr>
          <p:cNvSpPr txBox="1"/>
          <p:nvPr/>
        </p:nvSpPr>
        <p:spPr>
          <a:xfrm>
            <a:off x="4191000" y="4626264"/>
            <a:ext cx="449658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Harini Srinivasan</a:t>
            </a:r>
          </a:p>
          <a:p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https://www.linkedin.com/in/harini7s/</a:t>
            </a: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github.com/Harini07S</a:t>
            </a:r>
          </a:p>
          <a:p>
            <a:endParaRPr lang="en-IN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426B-00EF-1153-4499-4CC5DB3F7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Context and Problem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7A771-0D7B-B51D-9999-BD5206C2B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mid-sized bookstore generates large volumes of sales data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However, the business lacks structured insights to utilize this data effectively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Challenges</a:t>
            </a:r>
          </a:p>
          <a:p>
            <a:pPr lvl="0">
              <a:buClr>
                <a:srgbClr val="B31166"/>
              </a:buClr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visibility into high-value customers</a:t>
            </a:r>
          </a:p>
          <a:p>
            <a:pPr lvl="0">
              <a:buClr>
                <a:srgbClr val="B31166"/>
              </a:buClr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trends are not tracked systematically</a:t>
            </a:r>
          </a:p>
          <a:p>
            <a:pPr lvl="0">
              <a:buClr>
                <a:srgbClr val="B31166"/>
              </a:buClr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performance is unclear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Impact</a:t>
            </a:r>
          </a:p>
          <a:p>
            <a:pPr lvl="0">
              <a:buClr>
                <a:srgbClr val="B31166"/>
              </a:buClr>
              <a:defRPr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Decisions are not data-driven</a:t>
            </a:r>
          </a:p>
          <a:p>
            <a:pPr lvl="0">
              <a:buClr>
                <a:srgbClr val="B31166"/>
              </a:buClr>
              <a:defRPr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Missed opportunities in marketing, inventory, and customer retention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399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ADDE9-0E2C-7FA3-49C9-40C04A699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Objective and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C4AB2A0-DACF-158C-B299-6D6A2BEB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high-value customers and their purchasing patterns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revenue trends over time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top-performing genres, books, and authors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Questions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 are the top revenue-generating customers?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average spend per order?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genres drive the most sales?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does revenue change month-over-month?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07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E8E02-B8FB-F2F7-425F-4402BF0A9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F497-D1DC-A9DF-BE32-DA0D9D8BC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and Approach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65EDAD8-604F-4138-D831-426DB3230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</a:t>
            </a:r>
          </a:p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Orders, Customers, Books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Used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MySQL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Joined datasets to create a unified view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aggregations (SUM, COUNT) for metrics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Applied window functions (RANK) for top categories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time-based analysis for trends</a:t>
            </a:r>
          </a:p>
        </p:txBody>
      </p:sp>
    </p:spTree>
    <p:extLst>
      <p:ext uri="{BB962C8B-B14F-4D97-AF65-F5344CB8AC3E}">
        <p14:creationId xmlns:p14="http://schemas.microsoft.com/office/powerpoint/2010/main" val="404410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D1B5-2DE8-5D45-2A57-4E5F2E437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C909-D987-4F1E-50DE-56EE1FE87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Insights and Behavior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F323CB-13DB-CB59-D276-AD9A8416A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purchases and revenue per customer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spend per order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Favorite genres and purchase patterns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purchased books and authors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Takeaway: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Identifies high-value customers and their buying behavior</a:t>
            </a:r>
          </a:p>
        </p:txBody>
      </p:sp>
    </p:spTree>
    <p:extLst>
      <p:ext uri="{BB962C8B-B14F-4D97-AF65-F5344CB8AC3E}">
        <p14:creationId xmlns:p14="http://schemas.microsoft.com/office/powerpoint/2010/main" val="11754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8D7CE-FBDD-ADED-3CBF-AF1FF97A8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EDAC-775A-A508-2491-13C88E564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and Product Performance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F3C1E4-FD9A-CE2E-9672-898D9D38C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revenue, orders, and sales trends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Top-selling genres by month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frequently ordered books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authors by total sales</a:t>
            </a:r>
          </a:p>
          <a:p>
            <a:pPr marL="0" indent="0">
              <a:buNone/>
            </a:pPr>
            <a:r>
              <a:rPr lang="en-US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varies across months (possible seasonality )Certain genres consistently perform well, specific books and authors drive major sales.</a:t>
            </a:r>
          </a:p>
        </p:txBody>
      </p:sp>
    </p:spTree>
    <p:extLst>
      <p:ext uri="{BB962C8B-B14F-4D97-AF65-F5344CB8AC3E}">
        <p14:creationId xmlns:p14="http://schemas.microsoft.com/office/powerpoint/2010/main" val="128134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A4937-3EF4-0635-664D-085BA553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6394-1E4F-5B33-60FC-3524599F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C78E929-7FC2-FE2A-9CC1-334869E9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small group of customers contributes significantly to revenue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High-performing genres dominate overall sales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Revenue trends indicate seasonal demand patterns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 books and authors drive repeat purchases</a:t>
            </a:r>
          </a:p>
        </p:txBody>
      </p:sp>
    </p:spTree>
    <p:extLst>
      <p:ext uri="{BB962C8B-B14F-4D97-AF65-F5344CB8AC3E}">
        <p14:creationId xmlns:p14="http://schemas.microsoft.com/office/powerpoint/2010/main" val="2350996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08988-608D-77F3-A20B-A81998F30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A169-55A6-6068-68CA-F9E2C5AA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Recommendations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DA9499-67B4-4228-961B-8B67A4A49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Introduce loyalty programs for high-value customers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Marketing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Promote top-performing genres and books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 stock based on demand trends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Strategy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campaigns during low-performing months </a:t>
            </a:r>
          </a:p>
        </p:txBody>
      </p:sp>
    </p:spTree>
    <p:extLst>
      <p:ext uri="{BB962C8B-B14F-4D97-AF65-F5344CB8AC3E}">
        <p14:creationId xmlns:p14="http://schemas.microsoft.com/office/powerpoint/2010/main" val="250095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B579-103B-5E4A-9CC7-648497E8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D5BB5-CF97-6626-1F0D-1B9C9B9FB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927098"/>
            <a:ext cx="7439830" cy="709865"/>
          </a:xfrm>
        </p:spPr>
        <p:txBody>
          <a:bodyPr/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Expected Business Impact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A6B526C-E5D2-2262-FA60-88353CB61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2286000"/>
            <a:ext cx="8458200" cy="4343400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Increased revenue through targeted campaigns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customer retention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Optimized inventory planning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 data-driven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822444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95</TotalTime>
  <Words>361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Analysing Bookstore Trends: Buyers, Behavior, and Beyond with Advanced SQL</vt:lpstr>
      <vt:lpstr>Business Context and Problem</vt:lpstr>
      <vt:lpstr>Business Objective and  Key Questions</vt:lpstr>
      <vt:lpstr>Data and Approach</vt:lpstr>
      <vt:lpstr>Customer Insights and Behavior</vt:lpstr>
      <vt:lpstr>Sales and Product Performance</vt:lpstr>
      <vt:lpstr>Key Insights</vt:lpstr>
      <vt:lpstr>Business Recommendations</vt:lpstr>
      <vt:lpstr>Expected Business Impact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Harini</dc:creator>
  <cp:lastModifiedBy>Harini S</cp:lastModifiedBy>
  <cp:revision>2</cp:revision>
  <dcterms:created xsi:type="dcterms:W3CDTF">2026-03-28T08:22:15Z</dcterms:created>
  <dcterms:modified xsi:type="dcterms:W3CDTF">2026-03-29T12:47:33Z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2025-04-26T00:00:00Z</vt:filetime>
  </property>
  <property fmtid="{D5CDD505-2E9C-101B-9397-08002B2CF9AE}" pid="3" name="LastSaved">
    <vt:filetime>2026-03-28T00:00:00Z</vt:filetime>
  </property>
</Properties>
</file>